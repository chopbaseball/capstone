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gxzaFamiJJCtP//bAih+4SJ7d6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Digitalizar procesos académicos clave:</a:t>
            </a:r>
            <a:r>
              <a:rPr lang="es-CL">
                <a:solidFill>
                  <a:schemeClr val="dk1"/>
                </a:solidFill>
              </a:rPr>
              <a:t> Automatizar el registro de asistencia, calificaciones, planificación de clases y actividades administrativas para reducir errores y optimizar tiempos.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Facilitar la interacción entre estudiantes y profesores:</a:t>
            </a:r>
            <a:r>
              <a:rPr lang="es-CL">
                <a:solidFill>
                  <a:schemeClr val="dk1"/>
                </a:solidFill>
              </a:rPr>
              <a:t> Proveer herramientas que permitan un seguimiento más efectivo del progreso estudiantil y la comunicación en el ámbito académico.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Fortalecer la participación de los apoderados:</a:t>
            </a:r>
            <a:r>
              <a:rPr lang="es-CL">
                <a:solidFill>
                  <a:schemeClr val="dk1"/>
                </a:solidFill>
              </a:rPr>
              <a:t> Brindar un acceso fácil y seguro a la información académica y conductual de sus hijos, permitiendo un monitoreo continuo y oportuno.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Garantizar accesibilidad tecnológica:</a:t>
            </a:r>
            <a:r>
              <a:rPr lang="es-CL">
                <a:solidFill>
                  <a:schemeClr val="dk1"/>
                </a:solidFill>
              </a:rPr>
              <a:t> Diseñar un sistema intuitivo y adaptable a instituciones educativas con recursos limitados.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>
                <a:solidFill>
                  <a:schemeClr val="dk1"/>
                </a:solidFill>
              </a:rPr>
              <a:t>Centralizar la información académica:</a:t>
            </a:r>
            <a:r>
              <a:rPr lang="es-CL">
                <a:solidFill>
                  <a:schemeClr val="dk1"/>
                </a:solidFill>
              </a:rPr>
              <a:t> Crear un único repositorio digital para gestionar datos escolares de manera eficiente y segura.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s-CL">
                <a:solidFill>
                  <a:schemeClr val="dk1"/>
                </a:solidFill>
              </a:rPr>
              <a:t>Fomentar la sostenibilidad educativa:</a:t>
            </a:r>
            <a:r>
              <a:rPr lang="es-CL">
                <a:solidFill>
                  <a:schemeClr val="dk1"/>
                </a:solidFill>
              </a:rPr>
              <a:t> Reducir el uso de documentos físicos y fomentar prácticas más sostenibles en la gestión escolar.</a:t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20dbb29c24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7" name="Google Shape;147;g320dbb29c24_0_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5" name="Google Shape;15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21248bde79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21248bde79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21248bde7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g321248bde79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21248bde7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g321248bde7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 dir="l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 dir="l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 amt="15000"/>
          </a:blip>
          <a:srcRect b="0" l="0" r="0" t="0"/>
          <a:stretch/>
        </p:blipFill>
        <p:spPr>
          <a:xfrm>
            <a:off x="2667000" y="0"/>
            <a:ext cx="6858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scuelaIT Duoc UC - Escuela de Informática y Telecomunicaciones Duoc UC - Duoc  UC | LinkedIn"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/>
        </p:nvSpPr>
        <p:spPr>
          <a:xfrm>
            <a:off x="1" y="2707792"/>
            <a:ext cx="12192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PRESENTACIÓN FINAL CAPSTONE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91" name="Google Shape;9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" name="Google Shape;92;p2"/>
          <p:cNvGrpSpPr/>
          <p:nvPr/>
        </p:nvGrpSpPr>
        <p:grpSpPr>
          <a:xfrm>
            <a:off x="4085626" y="880469"/>
            <a:ext cx="7633494" cy="4350553"/>
            <a:chOff x="0" y="0"/>
            <a:chExt cx="7633494" cy="4350553"/>
          </a:xfrm>
        </p:grpSpPr>
        <p:sp>
          <p:nvSpPr>
            <p:cNvPr id="93" name="Google Shape;93;p2"/>
            <p:cNvSpPr/>
            <p:nvPr/>
          </p:nvSpPr>
          <p:spPr>
            <a:xfrm>
              <a:off x="0" y="0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 txBox="1"/>
            <p:nvPr/>
          </p:nvSpPr>
          <p:spPr>
            <a:xfrm>
              <a:off x="1662653" y="0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Alexandra Ahumada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Development Team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363049" y="135956"/>
              <a:ext cx="11268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0" y="1495502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 txBox="1"/>
            <p:nvPr/>
          </p:nvSpPr>
          <p:spPr>
            <a:xfrm>
              <a:off x="1662653" y="1495502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Vanessa Jeldres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Development Team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362999" y="1631456"/>
              <a:ext cx="1126800" cy="10878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0" y="2991005"/>
              <a:ext cx="7633494" cy="1359548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 txBox="1"/>
            <p:nvPr/>
          </p:nvSpPr>
          <p:spPr>
            <a:xfrm>
              <a:off x="1662653" y="2991005"/>
              <a:ext cx="5970840" cy="13595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Mauricio Olave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Development Team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63049" y="3126956"/>
              <a:ext cx="1126800" cy="10878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352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238327" y="3058616"/>
            <a:ext cx="360896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4" name="Google Shape;104;p2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05" name="Google Shape;105;p2"/>
          <p:cNvGrpSpPr/>
          <p:nvPr/>
        </p:nvGrpSpPr>
        <p:grpSpPr>
          <a:xfrm>
            <a:off x="4085601" y="5373244"/>
            <a:ext cx="7633553" cy="1359600"/>
            <a:chOff x="0" y="0"/>
            <a:chExt cx="7633553" cy="1359600"/>
          </a:xfrm>
        </p:grpSpPr>
        <p:sp>
          <p:nvSpPr>
            <p:cNvPr id="106" name="Google Shape;106;p2"/>
            <p:cNvSpPr/>
            <p:nvPr/>
          </p:nvSpPr>
          <p:spPr>
            <a:xfrm>
              <a:off x="0" y="0"/>
              <a:ext cx="7633500" cy="13596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6EA5DA"/>
                </a:gs>
                <a:gs pos="50000">
                  <a:srgbClr val="529BDA"/>
                </a:gs>
                <a:gs pos="100000">
                  <a:srgbClr val="4188C8"/>
                </a:gs>
              </a:gsLst>
              <a:lin ang="5400012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2"/>
            <p:cNvSpPr txBox="1"/>
            <p:nvPr/>
          </p:nvSpPr>
          <p:spPr>
            <a:xfrm>
              <a:off x="1662653" y="0"/>
              <a:ext cx="5970900" cy="135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9050" lIns="99050" spcFirstLastPara="1" rIns="99050" wrap="square" tIns="990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Calibri"/>
                <a:buNone/>
              </a:pPr>
              <a:r>
                <a:rPr b="0" i="0" lang="es-CL" sz="2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Jonathan Sarmiento</a:t>
              </a:r>
              <a:endParaRPr b="0" i="0" sz="2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91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Scrum Master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28600" lvl="1" marL="228600" marR="0" rtl="0" algn="l">
                <a:lnSpc>
                  <a:spcPct val="90000"/>
                </a:lnSpc>
                <a:spcBef>
                  <a:spcPts val="300"/>
                </a:spcBef>
                <a:spcAft>
                  <a:spcPts val="0"/>
                </a:spcAft>
                <a:buClr>
                  <a:schemeClr val="lt1"/>
                </a:buClr>
                <a:buSzPts val="2000"/>
                <a:buFont typeface="Calibri"/>
                <a:buChar char="•"/>
              </a:pPr>
              <a:r>
                <a:rPr b="0" i="0" lang="es-CL" sz="20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</a:t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63024" y="135956"/>
              <a:ext cx="1126800" cy="1087500"/>
            </a:xfrm>
            <a:prstGeom prst="roundRect">
              <a:avLst>
                <a:gd fmla="val 10000" name="adj"/>
              </a:avLst>
            </a:prstGeom>
            <a:solidFill>
              <a:srgbClr val="C3D4EB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09" name="Google Shape;10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48625" y="992900"/>
            <a:ext cx="1126801" cy="1200326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48625" y="2455588"/>
            <a:ext cx="1126799" cy="1200324"/>
          </a:xfrm>
          <a:prstGeom prst="rect">
            <a:avLst/>
          </a:prstGeom>
          <a:solidFill>
            <a:srgbClr val="C3D4EB"/>
          </a:solidFill>
          <a:ln>
            <a:noFill/>
          </a:ln>
          <a:effectLst>
            <a:outerShdw blurRad="57150" rotWithShape="0" algn="ctr" dir="5400000" dist="19050">
              <a:srgbClr val="000000">
                <a:alpha val="62745"/>
              </a:srgbClr>
            </a:outerShdw>
          </a:effectLst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6">
            <a:alphaModFix/>
          </a:blip>
          <a:srcRect b="33528" l="0" r="0" t="0"/>
          <a:stretch/>
        </p:blipFill>
        <p:spPr>
          <a:xfrm>
            <a:off x="4448625" y="5454575"/>
            <a:ext cx="1126800" cy="1196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16" name="Google Shape;116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0" y="1130849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" name="Google Shape;119;p3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0" name="Google Shape;120;p3"/>
          <p:cNvSpPr/>
          <p:nvPr/>
        </p:nvSpPr>
        <p:spPr>
          <a:xfrm>
            <a:off x="714909" y="2169769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Problema o dolor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Escuelas enfrentan procesos manuales y poco eficientes en la gestión académica y administrativa.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Falta de acceso a herramientas tecnológicas eficientes en escuelas de escasos recursos.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6912079" y="2177325"/>
            <a:ext cx="4348705" cy="4092601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sng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Digitalizar el libro de clases, centralizar información clave y simplificar la gestión escolar, brindando acceso fácil y eficiente para docentes y directivos.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por parte de los apoderados y alumnos en puntos adecuados (asistencia, calificaciones, horario, etc.).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27" name="Google Shape;1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4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0" y="1384304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0" name="Google Shape;130;p4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1" name="Google Shape;131;p4"/>
          <p:cNvSpPr txBox="1"/>
          <p:nvPr/>
        </p:nvSpPr>
        <p:spPr>
          <a:xfrm>
            <a:off x="1" y="4082446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digital accesible y eficiente que centralice y optimice la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académica y administrativa de las instituciones educativas, mejorando no solo el registro y seguimiento del desempeño estudiantil, sino también la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interacción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 profesores y alumnos, así como el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 los apoderados sobre la información académica y de vida escolar de sus hijos, con un enfoque especial en apoyar a escuelas con recursos limitados.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4"/>
          <p:cNvGrpSpPr/>
          <p:nvPr/>
        </p:nvGrpSpPr>
        <p:grpSpPr>
          <a:xfrm>
            <a:off x="614514" y="4732407"/>
            <a:ext cx="10962911" cy="1581993"/>
            <a:chOff x="614514" y="4732407"/>
            <a:chExt cx="10962911" cy="1581993"/>
          </a:xfrm>
        </p:grpSpPr>
        <p:sp>
          <p:nvSpPr>
            <p:cNvPr id="134" name="Google Shape;134;p4"/>
            <p:cNvSpPr/>
            <p:nvPr/>
          </p:nvSpPr>
          <p:spPr>
            <a:xfrm>
              <a:off x="614514" y="4732407"/>
              <a:ext cx="10962900" cy="15753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12700">
              <a:solidFill>
                <a:schemeClr val="accen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-3429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●"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Digitalizar procesos académicos clave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●"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Facilitar la interacción entre estudiantes y profesores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●"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Fortalecer la participación de los apoderados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6630425" y="4739100"/>
              <a:ext cx="4947000" cy="15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-3429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●"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Garantizar accesibilidad tecnológica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42900" lvl="0" marL="45720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Char char="●"/>
              </a:pPr>
              <a:r>
                <a:rPr b="0" i="0" lang="es-CL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Fomentar la sostenibilidad educativa</a:t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p:transition spd="slow">
    <p:wipe dir="l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6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5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0" y="12452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5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5"/>
          <p:cNvSpPr/>
          <p:nvPr/>
        </p:nvSpPr>
        <p:spPr>
          <a:xfrm>
            <a:off x="614550" y="2144200"/>
            <a:ext cx="10962900" cy="428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Alcances: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completa del libro de clases: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Incluye funcionalidades como asistencia, calificaciones, planificación de clases y registro de actividades.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Acceso multiusuario: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Ofrece interfaces específicas para profesores, estudiantes, apoderados y directores, adaptadas a sus necesidades.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Monitoreo parental: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Los apoderados pueden acceder a la información académica y de vida escolar de sus hijos, incluyendo asistencia, calificaciones y certificaciones.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Interacción mejorada: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Facilita la comunicación entre profesores y alumnos a través de funcionalidades específicas para seguimiento académico.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49" name="Google Shape;149;g320dbb29c24_0_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g320dbb29c24_0_50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20dbb29c24_0_50"/>
          <p:cNvSpPr txBox="1"/>
          <p:nvPr/>
        </p:nvSpPr>
        <p:spPr>
          <a:xfrm>
            <a:off x="0" y="12452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 y limitaciones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g320dbb29c24_0_50"/>
          <p:cNvCxnSpPr/>
          <p:nvPr/>
        </p:nvCxnSpPr>
        <p:spPr>
          <a:xfrm>
            <a:off x="0" y="758027"/>
            <a:ext cx="4085700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57" name="Google Shape;1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6"/>
          <p:cNvSpPr txBox="1"/>
          <p:nvPr/>
        </p:nvSpPr>
        <p:spPr>
          <a:xfrm>
            <a:off x="0" y="1245393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de trabajo para el desarrollo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6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1" name="Google Shape;161;p6"/>
          <p:cNvSpPr/>
          <p:nvPr/>
        </p:nvSpPr>
        <p:spPr>
          <a:xfrm>
            <a:off x="614550" y="2036750"/>
            <a:ext cx="10962900" cy="4628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68759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Ágil Scrum: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metodología ágil Scrum gestiona proyectos de manera iterativa e incremental, adaptándose a cambios y asegurando la entrega continua de valor durante el desarrollo.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Flexibilidad ante cambios:</a:t>
            </a: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Facilita ajustes rápidos en requisitos según las necesidades del usuario.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incremental:</a:t>
            </a: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Proporciona avances funcionales en cada sprint, asegurando progreso constante.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Colaboración constante:</a:t>
            </a: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Fomenta la comunicación entre el equipo, clientes y usuarios finales.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Priorización del valor:</a:t>
            </a: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enfoca en entregar primero las funcionalidades más importantes para los usuarios.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●"/>
            </a:pPr>
            <a:r>
              <a:rPr b="1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Gestión eficiente:</a:t>
            </a:r>
            <a:r>
              <a:rPr b="0" i="0" lang="es-CL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Permite identificar y resolver problemas de manera temprana, reduciendo riesgos en el desarrollo.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66" name="Google Shape;16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36188" y="368928"/>
            <a:ext cx="1219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" y="1155656"/>
            <a:ext cx="12191999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Cronograma para el desarrollo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CL" sz="16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 Utilizar cronograma de inicio, indicando el cumplimiento al término del proyecto </a:t>
            </a:r>
            <a:endParaRPr b="0" i="0" sz="10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0" name="Google Shape;17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2872123"/>
            <a:ext cx="11887200" cy="2315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75" name="Google Shape;17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8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8"/>
          <p:cNvSpPr txBox="1"/>
          <p:nvPr/>
        </p:nvSpPr>
        <p:spPr>
          <a:xfrm>
            <a:off x="0" y="972318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del software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" name="Google Shape;178;p8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79" name="Google Shape;17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06300" y="1618825"/>
            <a:ext cx="5179399" cy="50615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84" name="Google Shape;1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9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0" y="777805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7" name="Google Shape;187;p9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8" name="Google Shape;18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88950" y="1424300"/>
            <a:ext cx="4814099" cy="5303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wipe dir="l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0"/>
          <p:cNvSpPr txBox="1"/>
          <p:nvPr/>
        </p:nvSpPr>
        <p:spPr>
          <a:xfrm>
            <a:off x="136188" y="368928"/>
            <a:ext cx="121919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PROYECTO “EduBook Digital”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10"/>
          <p:cNvSpPr txBox="1"/>
          <p:nvPr/>
        </p:nvSpPr>
        <p:spPr>
          <a:xfrm>
            <a:off x="0" y="1432655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" name="Google Shape;196;p10"/>
          <p:cNvCxnSpPr/>
          <p:nvPr/>
        </p:nvCxnSpPr>
        <p:spPr>
          <a:xfrm>
            <a:off x="0" y="758027"/>
            <a:ext cx="4085617" cy="0"/>
          </a:xfrm>
          <a:prstGeom prst="straightConnector1">
            <a:avLst/>
          </a:prstGeom>
          <a:noFill/>
          <a:ln cap="flat" cmpd="sng" w="15875">
            <a:solidFill>
              <a:srgbClr val="F5F7F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10"/>
          <p:cNvSpPr/>
          <p:nvPr/>
        </p:nvSpPr>
        <p:spPr>
          <a:xfrm>
            <a:off x="614550" y="2144200"/>
            <a:ext cx="10962900" cy="428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web(Visual studio code):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HTML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 (Visual studio code):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Ionic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Angular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de escritorio (Visual studio 2022):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C#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.Net 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APIs: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DjangoRestFramework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2" name="Google Shape;20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1"/>
          <p:cNvSpPr txBox="1"/>
          <p:nvPr/>
        </p:nvSpPr>
        <p:spPr>
          <a:xfrm>
            <a:off x="1" y="2707792"/>
            <a:ext cx="12191999" cy="11387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DEMOSTRACIÓN DEL RESULTADO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L" sz="2400" u="none" cap="none" strike="noStrike">
                <a:solidFill>
                  <a:srgbClr val="757070"/>
                </a:solidFill>
                <a:latin typeface="Calibri"/>
                <a:ea typeface="Calibri"/>
                <a:cs typeface="Calibri"/>
                <a:sym typeface="Calibri"/>
              </a:rPr>
              <a:t>*Exposición del sistema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08" name="Google Shape;208;g321248bde79_0_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g321248bde79_0_15"/>
          <p:cNvSpPr txBox="1"/>
          <p:nvPr/>
        </p:nvSpPr>
        <p:spPr>
          <a:xfrm>
            <a:off x="-1275124" y="215467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ESCRITORIO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14" name="Google Shape;214;g321248bde79_0_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g321248bde79_0_10"/>
          <p:cNvSpPr txBox="1"/>
          <p:nvPr/>
        </p:nvSpPr>
        <p:spPr>
          <a:xfrm>
            <a:off x="-1259749" y="207542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SISTEMA WEB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0" name="Google Shape;220;g321248bde79_0_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g321248bde79_0_5"/>
          <p:cNvSpPr txBox="1"/>
          <p:nvPr/>
        </p:nvSpPr>
        <p:spPr>
          <a:xfrm>
            <a:off x="-998574" y="215467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MÓVIL</a:t>
            </a:r>
            <a:endParaRPr b="0" i="0" sz="2400" u="none" cap="none" strike="noStrike">
              <a:solidFill>
                <a:srgbClr val="75707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26" name="Google Shape;22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12"/>
          <p:cNvSpPr txBox="1"/>
          <p:nvPr/>
        </p:nvSpPr>
        <p:spPr>
          <a:xfrm>
            <a:off x="1" y="1151545"/>
            <a:ext cx="12192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614550" y="2144200"/>
            <a:ext cx="10962900" cy="428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proyecto logró desarrollarse con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éxito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superando diversas dificultades gracias al trabajo colaborativo del equipo y el uso de la metodología. A pesar de retos como comprender y adaptar una base de datos extraída del Ministerio de Educación, se </a:t>
            </a: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alcanzaron 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objetivos propuestos, garantizando una herramienta funcional y accesible para los usuarios finales.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de datos complejos: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logró comprender y estructurar una base de datos proveniente del Ministerio de Educación, adaptándola al sistema.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Implementación de funcionalidades clave: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Todas las aplicaciones (web, móvil y escritorio) incluyen registro de asistencia, calificaciones, planificación y monitoreo parental.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Entrega a tiempo: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Las iteraciones continuas aseguraron la finalización del proyecto dentro del plazo establecido.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b="1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Adaptación a necesidades específicas: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realizaron ajustes dinámicos en las funcionalidades para cumplir con los requerimientos cambiantes.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33" name="Google Shape;2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3"/>
          <p:cNvSpPr txBox="1"/>
          <p:nvPr/>
        </p:nvSpPr>
        <p:spPr>
          <a:xfrm>
            <a:off x="1" y="1360773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Obstáculos presentados durante 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614550" y="2144200"/>
            <a:ext cx="10962900" cy="4285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Uno de los obstáculos que enfrentamos fue la complejidad de la base de datos debido a su gran tamaño, lo cual dificulta su comprensión al inicio del proyecto y ralentizó algunas tareas. Sin embargo, gracias a la documentación proporcionada por el Ministerio de Educación, pudimos entenderla mejor y avanzar con mayor facilidad.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Otro de los obstáculos fue el tema de los tiempos, al ser proyecto de gran magnitud, llevó a recortar tareas para mostrar lo suficiente y necesario dentro de los límites de tiempo.</a:t>
            </a: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wipe dir="l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elaIT Duoc UC - Escuela de Informática y Telecomunicaciones Duoc UC - Duoc  UC | LinkedIn" id="240" name="Google Shape;2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2152" y="207550"/>
            <a:ext cx="3141406" cy="785352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14"/>
          <p:cNvSpPr txBox="1"/>
          <p:nvPr/>
        </p:nvSpPr>
        <p:spPr>
          <a:xfrm>
            <a:off x="0" y="3044279"/>
            <a:ext cx="12191999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s-CL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PREGUNTAS DE LA COMISIÓN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wipe dir="l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2023-10-28T21:12:11Z</dcterms:created>
  <dc:creator>Gerardo Galan Cruz</dc:creator>
</cp:coreProperties>
</file>